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74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90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03120"/>
            <a:ext cx="5486400" cy="5486400"/>
          </a:xfrm>
          <a:prstGeom prst="ellipse">
            <a:avLst/>
          </a:prstGeom>
          <a:solidFill>
            <a:srgbClr val="263280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754880"/>
            <a:ext cx="4114800" cy="4114800"/>
          </a:xfrm>
          <a:prstGeom prst="ellipse">
            <a:avLst/>
          </a:prstGeom>
          <a:solidFill>
            <a:srgbClr val="2632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PROJECT SYNOPSIS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ML Engineer Crew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self-reflective multi-agent pipeline for automated model building, evaluation, and deployment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2926080" cy="0"/>
          </a:xfrm>
          <a:prstGeom prst="line">
            <a:avLst/>
          </a:prstGeom>
          <a:noFill/>
          <a:ln w="12700">
            <a:solidFill>
              <a:srgbClr val="4A5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617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Punya Mahajan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956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230611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0" y="4617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Aniket Mishra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89120" y="4956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230648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55280" y="4617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Radhika Singh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4956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230833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6126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From raw data to an automated ML workflow</a:t>
            </a:r>
          </a:p>
        </p:txBody>
      </p:sp>
      <p:sp>
        <p:nvSpPr>
          <p:cNvPr id="4" name="Shape 2"/>
          <p:cNvSpPr/>
          <p:nvPr/>
        </p:nvSpPr>
        <p:spPr>
          <a:xfrm>
            <a:off x="11064240" y="45720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10642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6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6309360" cy="4480560"/>
          </a:xfrm>
          <a:prstGeom prst="roundRect">
            <a:avLst>
              <a:gd name="adj" fmla="val 1633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6012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286000"/>
            <a:ext cx="5669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ea typeface="Calibri" pitchFamily="34" charset="-122"/>
                <a:cs typeface="Calibri" pitchFamily="34" charset="-120"/>
              </a:rPr>
              <a:t>Building a working ML model from a raw dataset is slow and manual —&gt; clean the data, engineer features, pick and tune a model, validate it, then deploy it. Most people with a dataset but no ML expertise or time can't get from raw data to a working prediction service on their own.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406908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350" dirty="0"/>
              <a:t>Our system automates the ML workflow with coordinated AI agents that hand off work to each other  with a built-in self-reflection loop: a failed model is sent back for another bounded tuning attempt instead of the system stopping.</a:t>
            </a:r>
          </a:p>
        </p:txBody>
      </p:sp>
      <p:sp>
        <p:nvSpPr>
          <p:cNvPr id="10" name="Text 8"/>
          <p:cNvSpPr/>
          <p:nvPr/>
        </p:nvSpPr>
        <p:spPr>
          <a:xfrm>
            <a:off x="7315200" y="1920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0" y="2276856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635240" y="222199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analyst without ML expertise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0" y="3145536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635240" y="309067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startup team moving fast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15200" y="4014216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635240" y="395935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fellow student needing a working model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315200" y="53035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00" dirty="0">
                <a:solidFill>
                  <a:schemeClr val="tx2"/>
                </a:solidFill>
              </a:rPr>
              <a:t>Input: structured CSV + target column + prediction goal</a:t>
            </a:r>
          </a:p>
          <a:p>
            <a:r>
              <a:rPr sz="1400" dirty="0">
                <a:solidFill>
                  <a:schemeClr val="tx2"/>
                </a:solidFill>
              </a:rPr>
              <a:t>Supported tasks: supervised classification &amp; regression</a:t>
            </a:r>
          </a:p>
          <a:p>
            <a:r>
              <a:rPr sz="1400" dirty="0">
                <a:solidFill>
                  <a:schemeClr val="tx2"/>
                </a:solidFill>
              </a:rPr>
              <a:t>Examples: house-price prediction, customer churn</a:t>
            </a:r>
          </a:p>
        </p:txBody>
      </p:sp>
      <p:sp>
        <p:nvSpPr>
          <p:cNvPr id="18" name="Text 1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OUTCOMES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sets out to do — and deliver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64240" y="45720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10642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6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the full lifecycle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820665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200" dirty="0"/>
              <a:t>Data cleaning, model selection/tuning, evaluation, and deployment via a coordinated multi-agent pipeline using </a:t>
            </a:r>
            <a:r>
              <a:rPr sz="1200" dirty="0" err="1"/>
              <a:t>CrewAI</a:t>
            </a:r>
            <a:r>
              <a:rPr sz="1200" dirty="0"/>
              <a:t> Flow + Google ADK.</a:t>
            </a:r>
          </a:p>
        </p:txBody>
      </p:sp>
      <p:sp>
        <p:nvSpPr>
          <p:cNvPr id="11" name="Shape 9"/>
          <p:cNvSpPr/>
          <p:nvPr/>
        </p:nvSpPr>
        <p:spPr>
          <a:xfrm>
            <a:off x="4343400" y="169164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61772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6177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2514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Genuine self-reflection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2820665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200" dirty="0"/>
              <a:t>The Evaluation Agent applies a task-appropriate metric and justified threshold, then sends structured feedback for a bounded tuning retry.</a:t>
            </a:r>
          </a:p>
        </p:txBody>
      </p:sp>
      <p:sp>
        <p:nvSpPr>
          <p:cNvPr id="16" name="Shape 14"/>
          <p:cNvSpPr/>
          <p:nvPr/>
        </p:nvSpPr>
        <p:spPr>
          <a:xfrm>
            <a:off x="8046720" y="169164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5F7FC"/>
          </a:solidFill>
          <a:ln/>
        </p:spPr>
      </p:sp>
      <p:sp>
        <p:nvSpPr>
          <p:cNvPr id="17" name="Shape 15"/>
          <p:cNvSpPr/>
          <p:nvPr/>
        </p:nvSpPr>
        <p:spPr>
          <a:xfrm>
            <a:off x="832104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2514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usable, live service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21040" y="2820665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0233A"/>
                </a:solidFill>
                <a:ea typeface="Calibri" pitchFamily="34" charset="-122"/>
                <a:cs typeface="Calibri" pitchFamily="34" charset="-120"/>
              </a:rPr>
              <a:t>A queryable prediction API , not just a notebook or report , so the output is directly demoable.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069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 — GIVEN A RAW CSV, THE SYSTEM AUTONOMOUSLY PRODUCES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480560"/>
            <a:ext cx="3337560" cy="594360"/>
          </a:xfrm>
          <a:prstGeom prst="roundRect">
            <a:avLst>
              <a:gd name="adj" fmla="val 9231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4805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trained, working model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06240" y="4480560"/>
            <a:ext cx="3337560" cy="594360"/>
          </a:xfrm>
          <a:prstGeom prst="roundRect">
            <a:avLst>
              <a:gd name="adj" fmla="val 9231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4343400" y="44805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/predict API endpoint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0" y="4480560"/>
            <a:ext cx="3337560" cy="594360"/>
          </a:xfrm>
          <a:prstGeom prst="roundRect">
            <a:avLst>
              <a:gd name="adj" fmla="val 9231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909560" y="44805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report card: model, rationale, accuracy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257800"/>
            <a:ext cx="3337560" cy="594360"/>
          </a:xfrm>
          <a:prstGeom prst="roundRect">
            <a:avLst>
              <a:gd name="adj" fmla="val 9231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2578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monitoring: counts &amp; error rates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206240" y="5257800"/>
            <a:ext cx="3337560" cy="594360"/>
          </a:xfrm>
          <a:prstGeom prst="roundRect">
            <a:avLst>
              <a:gd name="adj" fmla="val 9231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4343400" y="52578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pipeline for new datasets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Four specialized agents coordinated by an Orchestrator</a:t>
            </a:r>
          </a:p>
        </p:txBody>
      </p:sp>
      <p:sp>
        <p:nvSpPr>
          <p:cNvPr id="4" name="Shape 2"/>
          <p:cNvSpPr/>
          <p:nvPr/>
        </p:nvSpPr>
        <p:spPr>
          <a:xfrm>
            <a:off x="11064240" y="45720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10642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6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1371600" y="16642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Data-Prep Agent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709160" y="1938528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846320" y="164592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ea typeface="Calibri" pitchFamily="34" charset="-122"/>
                <a:cs typeface="Calibri" pitchFamily="34" charset="-120"/>
              </a:rPr>
              <a:t>Ingests the raw dataset, cleans it, handles missing values, engineers features, flags quality issues.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478024"/>
            <a:ext cx="1088136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258775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1371600" y="25603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Model-Selection &amp; Tuning Agent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709160" y="283464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846320" y="2542032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ea typeface="Calibri" pitchFamily="34" charset="-122"/>
                <a:cs typeface="Calibri" pitchFamily="34" charset="-120"/>
              </a:rPr>
              <a:t>Picks candidate architectures and runs hyperparameter search — extends the base repo.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374136"/>
            <a:ext cx="1088136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40080" y="3483864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0080" y="3483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30" dirty="0"/>
          </a:p>
        </p:txBody>
      </p:sp>
      <p:sp>
        <p:nvSpPr>
          <p:cNvPr id="20" name="Text 18"/>
          <p:cNvSpPr/>
          <p:nvPr/>
        </p:nvSpPr>
        <p:spPr>
          <a:xfrm>
            <a:off x="1371600" y="345643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Agent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709160" y="3730752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846320" y="3438144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ea typeface="Calibri" pitchFamily="34" charset="-122"/>
                <a:cs typeface="Calibri" pitchFamily="34" charset="-120"/>
              </a:rPr>
              <a:t>Runs held-out validation, computes metrics, writes a model report card with a justified pass/fail.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270248"/>
            <a:ext cx="1088136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40080" y="4379976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40080" y="4379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30" dirty="0"/>
          </a:p>
        </p:txBody>
      </p:sp>
      <p:sp>
        <p:nvSpPr>
          <p:cNvPr id="26" name="Text 24"/>
          <p:cNvSpPr/>
          <p:nvPr/>
        </p:nvSpPr>
        <p:spPr>
          <a:xfrm>
            <a:off x="1371600" y="435254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/ Observability Agent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709160" y="4626864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846320" y="4334256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ea typeface="Calibri" pitchFamily="34" charset="-122"/>
                <a:cs typeface="Calibri" pitchFamily="34" charset="-120"/>
              </a:rPr>
              <a:t>Packages the winning model (Docker), stands it up as a live API, sets up logging &amp; monitoring.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166360"/>
            <a:ext cx="1088136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40080" y="52760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40080" y="5276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30" dirty="0"/>
          </a:p>
        </p:txBody>
      </p:sp>
      <p:sp>
        <p:nvSpPr>
          <p:cNvPr id="32" name="Text 30"/>
          <p:cNvSpPr/>
          <p:nvPr/>
        </p:nvSpPr>
        <p:spPr>
          <a:xfrm>
            <a:off x="1371600" y="524865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Orchestrator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4709160" y="5522976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846320" y="5230368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dirty="0"/>
              <a:t>Coordinates the four agents, maintains shared state, validates handoffs, and enforces the bounded evaluation-to-tuning retry loop.</a:t>
            </a:r>
          </a:p>
        </p:txBody>
      </p:sp>
      <p:sp>
        <p:nvSpPr>
          <p:cNvPr id="35" name="Text 3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handoff at a time — with a built-in retry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64240" y="457200"/>
            <a:ext cx="548640" cy="548640"/>
          </a:xfrm>
          <a:prstGeom prst="ellipse">
            <a:avLst/>
          </a:prstGeom>
          <a:solidFill>
            <a:srgbClr val="263280"/>
          </a:solidFill>
          <a:ln/>
        </p:spPr>
      </p:sp>
      <p:sp>
        <p:nvSpPr>
          <p:cNvPr id="5" name="Text 3"/>
          <p:cNvSpPr/>
          <p:nvPr/>
        </p:nvSpPr>
        <p:spPr>
          <a:xfrm>
            <a:off x="110642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60" dirty="0"/>
          </a:p>
        </p:txBody>
      </p:sp>
      <p:sp>
        <p:nvSpPr>
          <p:cNvPr id="6" name="Shape 4"/>
          <p:cNvSpPr/>
          <p:nvPr/>
        </p:nvSpPr>
        <p:spPr>
          <a:xfrm>
            <a:off x="667512" y="2286000"/>
            <a:ext cx="1965960" cy="1188720"/>
          </a:xfrm>
          <a:prstGeom prst="roundRect">
            <a:avLst>
              <a:gd name="adj" fmla="val 6923"/>
            </a:avLst>
          </a:prstGeom>
          <a:solidFill>
            <a:srgbClr val="2A348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228600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633472" y="2286000"/>
            <a:ext cx="256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89504" y="2286000"/>
            <a:ext cx="1965960" cy="1188720"/>
          </a:xfrm>
          <a:prstGeom prst="roundRect">
            <a:avLst>
              <a:gd name="adj" fmla="val 6923"/>
            </a:avLst>
          </a:prstGeom>
          <a:solidFill>
            <a:srgbClr val="2A3480"/>
          </a:solidFill>
          <a:ln/>
        </p:spPr>
      </p:sp>
      <p:sp>
        <p:nvSpPr>
          <p:cNvPr id="10" name="Text 8"/>
          <p:cNvSpPr/>
          <p:nvPr/>
        </p:nvSpPr>
        <p:spPr>
          <a:xfrm>
            <a:off x="2980944" y="228600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Data-Prep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 &amp; engineers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55464" y="2286000"/>
            <a:ext cx="256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111496" y="2286000"/>
            <a:ext cx="1965960" cy="1188720"/>
          </a:xfrm>
          <a:prstGeom prst="roundRect">
            <a:avLst>
              <a:gd name="adj" fmla="val 6923"/>
            </a:avLst>
          </a:prstGeom>
          <a:solidFill>
            <a:srgbClr val="2A3480"/>
          </a:solidFill>
          <a:ln/>
        </p:spPr>
      </p:sp>
      <p:sp>
        <p:nvSpPr>
          <p:cNvPr id="13" name="Text 11"/>
          <p:cNvSpPr/>
          <p:nvPr/>
        </p:nvSpPr>
        <p:spPr>
          <a:xfrm>
            <a:off x="5202936" y="228600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Model-Selection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candidates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077456" y="2286000"/>
            <a:ext cx="256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33488" y="2286000"/>
            <a:ext cx="1965960" cy="1188720"/>
          </a:xfrm>
          <a:prstGeom prst="roundRect">
            <a:avLst>
              <a:gd name="adj" fmla="val 6923"/>
            </a:avLst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7424928" y="228600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on held-out data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299448" y="2286000"/>
            <a:ext cx="256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55480" y="2286000"/>
            <a:ext cx="1965960" cy="1188720"/>
          </a:xfrm>
          <a:prstGeom prst="roundRect">
            <a:avLst>
              <a:gd name="adj" fmla="val 6923"/>
            </a:avLst>
          </a:prstGeom>
          <a:solidFill>
            <a:srgbClr val="2A3480"/>
          </a:solidFill>
          <a:ln/>
        </p:spPr>
      </p:sp>
      <p:sp>
        <p:nvSpPr>
          <p:cNvPr id="19" name="Text 17"/>
          <p:cNvSpPr/>
          <p:nvPr/>
        </p:nvSpPr>
        <p:spPr>
          <a:xfrm>
            <a:off x="9646920" y="228600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&amp; deploys API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316468" y="3474720"/>
            <a:ext cx="0" cy="411480"/>
          </a:xfrm>
          <a:prstGeom prst="line">
            <a:avLst/>
          </a:prstGeom>
          <a:noFill/>
          <a:ln w="25400">
            <a:solidFill>
              <a:srgbClr val="F2A65A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 flipH="1">
            <a:off x="6731793" y="3886200"/>
            <a:ext cx="1584673" cy="0"/>
          </a:xfrm>
          <a:prstGeom prst="line">
            <a:avLst/>
          </a:prstGeom>
          <a:noFill/>
          <a:ln w="25400">
            <a:solidFill>
              <a:srgbClr val="F2A65A"/>
            </a:solidFill>
            <a:prstDash val="dash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94476" y="3474720"/>
            <a:ext cx="0" cy="411480"/>
          </a:xfrm>
          <a:prstGeom prst="line">
            <a:avLst/>
          </a:prstGeom>
          <a:noFill/>
          <a:ln w="25400">
            <a:solidFill>
              <a:srgbClr val="F2A65A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6094476" y="3995928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quality bar — loop back for retuning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67512" y="4572000"/>
            <a:ext cx="10853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 →  live API the user can query at /predict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59893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B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arrow is a real agent-to-agent handoff — each agent reasons about and justifies its own step before passing control onward.</a:t>
            </a:r>
            <a:endParaRPr lang="en-US" sz="1100" dirty="0"/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75A5F6F6-C4F4-4A84-E698-4466B8744712}"/>
              </a:ext>
            </a:extLst>
          </p:cNvPr>
          <p:cNvSpPr/>
          <p:nvPr/>
        </p:nvSpPr>
        <p:spPr>
          <a:xfrm flipH="1">
            <a:off x="6112673" y="3886197"/>
            <a:ext cx="619117" cy="2"/>
          </a:xfrm>
          <a:prstGeom prst="line">
            <a:avLst/>
          </a:prstGeom>
          <a:noFill/>
          <a:ln w="25400">
            <a:solidFill>
              <a:srgbClr val="F2A65A"/>
            </a:solidFill>
            <a:prstDash val="dash"/>
            <a:tailEnd type="triangl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course concept mapping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64240" y="45720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110642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6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35915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definitions, orchestration &amp; tool calling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0" y="20574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383280" y="235915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workflow coordination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scikit-learn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336499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feature engineering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0" y="30632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83280" y="336499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tracking &amp; the report card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0690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FastAPI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43708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&amp; the live /predict API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40690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(optional)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83280" y="43708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external tools as callables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1691640"/>
            <a:ext cx="0" cy="448056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1691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COURSE CONCEPTS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2057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732520" y="20574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sequences agents toward a deployed model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28072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732520" y="280720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calls real tools — pandas, training APIs, Docker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0" y="355701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Self-reflection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732520" y="3557016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↔ Model-Selection retry loop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0" y="430682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Evaluation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732520" y="430682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card is a direct, graded syllabus topic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0" y="50566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Deployment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732520" y="505663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Logging/monitoring hooks + Docker + live API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0" y="5806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phases, weighted by the course rubric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64240" y="45720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10642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6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· Wk 3</a:t>
            </a:r>
            <a:endParaRPr lang="en-US" sz="12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charter, agent architecture &amp; pipeline scope, responsibility matrix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43400" y="173736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617720" y="1965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22860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4617720" y="3246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b="1">
                <a:solidFill>
                  <a:schemeClr val="tx2">
                    <a:lumMod val="75000"/>
                  </a:schemeClr>
                </a:solidFill>
              </a:rPr>
              <a:t>Late Sept · Oct Wk 4</a:t>
            </a:r>
          </a:p>
        </p:txBody>
      </p:sp>
      <p:sp>
        <p:nvSpPr>
          <p:cNvPr id="15" name="Text 13"/>
          <p:cNvSpPr/>
          <p:nvPr/>
        </p:nvSpPr>
        <p:spPr>
          <a:xfrm>
            <a:off x="4617720" y="36118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200" dirty="0">
                <a:solidFill>
                  <a:schemeClr val="tx2">
                    <a:lumMod val="75000"/>
                  </a:schemeClr>
                </a:solidFill>
              </a:rPr>
              <a:t>Development, integration &amp; testing — ADK fork, </a:t>
            </a:r>
            <a:r>
              <a:rPr sz="1200" dirty="0" err="1">
                <a:solidFill>
                  <a:schemeClr val="tx2">
                    <a:lumMod val="75000"/>
                  </a:schemeClr>
                </a:solidFill>
              </a:rPr>
              <a:t>CrewAI</a:t>
            </a:r>
            <a:r>
              <a:rPr sz="1200" dirty="0">
                <a:solidFill>
                  <a:schemeClr val="tx2">
                    <a:lumMod val="75000"/>
                  </a:schemeClr>
                </a:solidFill>
              </a:rPr>
              <a:t> workflow, Data-Prep, Model-Selection and Evaluation components</a:t>
            </a:r>
          </a:p>
        </p:txBody>
      </p:sp>
      <p:sp>
        <p:nvSpPr>
          <p:cNvPr id="16" name="Shape 14"/>
          <p:cNvSpPr/>
          <p:nvPr/>
        </p:nvSpPr>
        <p:spPr>
          <a:xfrm>
            <a:off x="8046720" y="173736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321040" y="1965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21040" y="22860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8321040" y="3246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b="1">
                <a:solidFill>
                  <a:schemeClr val="tx2">
                    <a:lumMod val="75000"/>
                  </a:schemeClr>
                </a:solidFill>
              </a:rPr>
              <a:t>Oct Wk 4 · Nov Wk 1–2</a:t>
            </a:r>
          </a:p>
        </p:txBody>
      </p:sp>
      <p:sp>
        <p:nvSpPr>
          <p:cNvPr id="20" name="Text 18"/>
          <p:cNvSpPr/>
          <p:nvPr/>
        </p:nvSpPr>
        <p:spPr>
          <a:xfrm>
            <a:off x="8321040" y="36118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200">
                <a:solidFill>
                  <a:schemeClr val="tx2">
                    <a:lumMod val="75000"/>
                  </a:schemeClr>
                </a:solidFill>
              </a:rPr>
              <a:t>Refinement, interface &amp; deployment — retry policy, guardrails, minimal UI, Docker, /predict API, monitoring, final demo</a:t>
            </a:r>
          </a:p>
        </p:txBody>
      </p:sp>
      <p:sp>
        <p:nvSpPr>
          <p:cNvPr id="22" name="Text 20"/>
          <p:cNvSpPr/>
          <p:nvPr/>
        </p:nvSpPr>
        <p:spPr>
          <a:xfrm>
            <a:off x="914400" y="51663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64240" y="45720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110642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6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RESPONSIBILITY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6675120" cy="841248"/>
          </a:xfrm>
          <a:prstGeom prst="roundRect">
            <a:avLst>
              <a:gd name="adj" fmla="val 7609"/>
            </a:avLst>
          </a:prstGeom>
          <a:solidFill>
            <a:srgbClr val="F5F7F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057400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Punya Mahajan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0" y="205740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Model-Selection + Orchestrator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2057400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063240"/>
            <a:ext cx="6675120" cy="841248"/>
          </a:xfrm>
          <a:prstGeom prst="roundRect">
            <a:avLst>
              <a:gd name="adj" fmla="val 7609"/>
            </a:avLst>
          </a:prstGeom>
          <a:solidFill>
            <a:srgbClr val="F5F7F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063240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Aniket Mishra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0" y="306324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Data-Prep + Deployment/Observability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3063240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4069080"/>
            <a:ext cx="6675120" cy="841248"/>
          </a:xfrm>
          <a:prstGeom prst="roundRect">
            <a:avLst>
              <a:gd name="adj" fmla="val 7609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868680" y="4069080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Radhika Singh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0" y="406908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Agent + documentation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4069080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51663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635240" y="1691640"/>
            <a:ext cx="0" cy="448056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0956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RISKS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91272" y="2014347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8183880" y="19659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classification/regression only — no arbitrary ML problem types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91272" y="2837307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8183880" y="27889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repo (adk-samples) may shift — confirm layout before building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91272" y="3660267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8183880" y="36118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search space &amp; dataset size to control compute cost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891272" y="4483227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8183880" y="44348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the end user explicitly — this is infra, not a business app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825</Words>
  <Application>Microsoft Office PowerPoint</Application>
  <PresentationFormat>Widescreen</PresentationFormat>
  <Paragraphs>148</Paragraphs>
  <Slides>8</Slides>
  <Notes>8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Aniket Mishra</cp:lastModifiedBy>
  <cp:revision>4</cp:revision>
  <dcterms:created xsi:type="dcterms:W3CDTF">2026-09-27T15:19:48Z</dcterms:created>
  <dcterms:modified xsi:type="dcterms:W3CDTF">2026-09-27T16:16:23Z</dcterms:modified>
</cp:coreProperties>
</file>